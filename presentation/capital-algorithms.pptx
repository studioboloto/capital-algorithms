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98e730f1af411e" /><Relationship Type="http://schemas.openxmlformats.org/officeDocument/2006/relationships/extended-properties" Target="/docProps/app.xml" Id="Rb5c7cc8fd86e48fa" /><Relationship Type="http://schemas.openxmlformats.org/officeDocument/2006/relationships/officeDocument" Target="/ppt/presentation.xml" Id="Re6c26b92ba5c4e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32a563cda9468c"/>
  </p:sldMasterIdLst>
  <p:notesMasterIdLst>
    <p:notesMasterId xmlns:r="http://schemas.openxmlformats.org/officeDocument/2006/relationships" r:id="R5f89ebe9a672433c"/>
  </p:notesMasterIdLst>
  <p:sldIdLst>
    <p:sldId xmlns:r="http://schemas.openxmlformats.org/officeDocument/2006/relationships" id="256" r:id="Re2e9389694ac4bc1"/>
    <p:sldId xmlns:r="http://schemas.openxmlformats.org/officeDocument/2006/relationships" id="257" r:id="R4bf644cc9af0403b"/>
    <p:sldId xmlns:r="http://schemas.openxmlformats.org/officeDocument/2006/relationships" id="258" r:id="Raa27cb09caf046d8"/>
    <p:sldId xmlns:r="http://schemas.openxmlformats.org/officeDocument/2006/relationships" id="259" r:id="Rd65c6622ac184ee0"/>
    <p:sldId xmlns:r="http://schemas.openxmlformats.org/officeDocument/2006/relationships" id="260" r:id="R7285738be7614506"/>
    <p:sldId xmlns:r="http://schemas.openxmlformats.org/officeDocument/2006/relationships" id="261" r:id="R83e5e14879854b74"/>
    <p:sldId xmlns:r="http://schemas.openxmlformats.org/officeDocument/2006/relationships" id="262" r:id="Rc539cef6221346d4"/>
    <p:sldId xmlns:r="http://schemas.openxmlformats.org/officeDocument/2006/relationships" id="263" r:id="Rfdaf2b4f41fc4d07"/>
    <p:sldId xmlns:r="http://schemas.openxmlformats.org/officeDocument/2006/relationships" id="264" r:id="R1027e5abde984c65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483b6faa614ed0" /><Relationship Type="http://schemas.openxmlformats.org/officeDocument/2006/relationships/slideMaster" Target="/ppt/slideMasters/slideMaster1.xml" Id="R0d32a563cda9468c" /><Relationship Type="http://schemas.openxmlformats.org/officeDocument/2006/relationships/notesMaster" Target="/ppt/notesMasters/notesMaster1.xml" Id="R5f89ebe9a672433c" /><Relationship Type="http://schemas.openxmlformats.org/officeDocument/2006/relationships/presProps" Target="/ppt/presProps.xml" Id="Rcf8ed185294d462c" /><Relationship Type="http://schemas.openxmlformats.org/officeDocument/2006/relationships/viewProps" Target="/ppt/viewProps.xml" Id="Rfbf44c1eb0bf45eb" /><Relationship Type="http://schemas.openxmlformats.org/officeDocument/2006/relationships/tableStyles" Target="/ppt/tableStyles.xml" Id="R64e51decdfc04499" /><Relationship Type="http://schemas.openxmlformats.org/officeDocument/2006/relationships/slide" Target="/ppt/slides/slide1.xml" Id="Re2e9389694ac4bc1" /><Relationship Type="http://schemas.openxmlformats.org/officeDocument/2006/relationships/slide" Target="/ppt/slides/slide2.xml" Id="R4bf644cc9af0403b" /><Relationship Type="http://schemas.openxmlformats.org/officeDocument/2006/relationships/slide" Target="/ppt/slides/slide3.xml" Id="Raa27cb09caf046d8" /><Relationship Type="http://schemas.openxmlformats.org/officeDocument/2006/relationships/slide" Target="/ppt/slides/slide4.xml" Id="Rd65c6622ac184ee0" /><Relationship Type="http://schemas.openxmlformats.org/officeDocument/2006/relationships/slide" Target="/ppt/slides/slide5.xml" Id="R7285738be7614506" /><Relationship Type="http://schemas.openxmlformats.org/officeDocument/2006/relationships/slide" Target="/ppt/slides/slide6.xml" Id="R83e5e14879854b74" /><Relationship Type="http://schemas.openxmlformats.org/officeDocument/2006/relationships/slide" Target="/ppt/slides/slide7.xml" Id="Rc539cef6221346d4" /><Relationship Type="http://schemas.openxmlformats.org/officeDocument/2006/relationships/slide" Target="/ppt/slides/slide8.xml" Id="Rfdaf2b4f41fc4d07" /><Relationship Type="http://schemas.openxmlformats.org/officeDocument/2006/relationships/slide" Target="/ppt/slides/slide9.xml" Id="R1027e5abde984c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9e8a9845f741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b137e98b44418f" /><Relationship Type="http://schemas.openxmlformats.org/officeDocument/2006/relationships/notesMaster" Target="/ppt/notesMasters/notesMaster1.xml" Id="R9f9f9e6c9cfd43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c36e8ccbc84e6b" /><Relationship Type="http://schemas.openxmlformats.org/officeDocument/2006/relationships/notesMaster" Target="/ppt/notesMasters/notesMaster1.xml" Id="Recca3629241447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178057af1f492d" /><Relationship Type="http://schemas.openxmlformats.org/officeDocument/2006/relationships/notesMaster" Target="/ppt/notesMasters/notesMaster1.xml" Id="Rbe55f15f6eda4f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e696fbda9b4010" /><Relationship Type="http://schemas.openxmlformats.org/officeDocument/2006/relationships/notesMaster" Target="/ppt/notesMasters/notesMaster1.xml" Id="Rf33fc15e3e0541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39e5f8431e4db7" /><Relationship Type="http://schemas.openxmlformats.org/officeDocument/2006/relationships/notesMaster" Target="/ppt/notesMasters/notesMaster1.xml" Id="Rdfb2198c832146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457b435b9c426f" /><Relationship Type="http://schemas.openxmlformats.org/officeDocument/2006/relationships/notesMaster" Target="/ppt/notesMasters/notesMaster1.xml" Id="R804138fd89d04d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260cab9c6e4216" /><Relationship Type="http://schemas.openxmlformats.org/officeDocument/2006/relationships/notesMaster" Target="/ppt/notesMasters/notesMaster1.xml" Id="R5894de5df3084a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9875bea2b544f6" /><Relationship Type="http://schemas.openxmlformats.org/officeDocument/2006/relationships/notesMaster" Target="/ppt/notesMasters/notesMaster1.xml" Id="R37c07cebb6694a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30af37eef74478" /><Relationship Type="http://schemas.openxmlformats.org/officeDocument/2006/relationships/notesMaster" Target="/ppt/notesMasters/notesMaster1.xml" Id="R10fbd1fa17b347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docs/full_real_submission_report.md, полный потоковый прогон 25.09.2026. Из-за отсутствия exhaustive ground truth значения являются proxy-наблюдениями, а не precision/recall всего датасета.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63e6c8b294d69" /><Relationship Type="http://schemas.openxmlformats.org/officeDocument/2006/relationships/image" Target="/ppt/media/image2.png" Id="R52ed18a4172549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5e160c18a48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8632045254e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8b1aae468b49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3a5f2b45746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6c6893b7b42f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67429e93f441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699cf61cb34ab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86a5aa4c8494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31e6f7367490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e58fe2292434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62e0cb4dd4f4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c878cd5024ba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bdf4ab9e0408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b3c25012b4f3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2afbead2a40b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da2db0243408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8df78f686431f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bdb91e3d74a4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9bba8ba5504dbc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19fef32b64ba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fe0355b9f46c4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b02afd4de4484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52ed18a41725498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81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d1e2b1c105244cf2" /><Relationship Type="http://schemas.openxmlformats.org/officeDocument/2006/relationships/theme" Target="/ppt/slideMasters/theme/theme2.xml" Id="Rd585bc6431434267" /><Relationship Type="http://schemas.openxmlformats.org/officeDocument/2006/relationships/slideLayout" Target="/ppt/slideLayouts/slideLayout1.xml" Id="R76bd79f660204ae8" /><Relationship Type="http://schemas.openxmlformats.org/officeDocument/2006/relationships/slideLayout" Target="/ppt/slideLayouts/slideLayout2.xml" Id="Rc8e94a85faa54bff" /><Relationship Type="http://schemas.openxmlformats.org/officeDocument/2006/relationships/slideLayout" Target="/ppt/slideLayouts/slideLayout3.xml" Id="Rddcabb6f71684ed6" /><Relationship Type="http://schemas.openxmlformats.org/officeDocument/2006/relationships/slideLayout" Target="/ppt/slideLayouts/slideLayout4.xml" Id="R57c1da16d36240b2" /><Relationship Type="http://schemas.openxmlformats.org/officeDocument/2006/relationships/slideLayout" Target="/ppt/slideLayouts/slideLayout5.xml" Id="R507674ad78c74304" /><Relationship Type="http://schemas.openxmlformats.org/officeDocument/2006/relationships/slideLayout" Target="/ppt/slideLayouts/slideLayout6.xml" Id="Rd83c8313296d46f4" /><Relationship Type="http://schemas.openxmlformats.org/officeDocument/2006/relationships/slideLayout" Target="/ppt/slideLayouts/slideLayout7.xml" Id="R28074c48f38d4226" /><Relationship Type="http://schemas.openxmlformats.org/officeDocument/2006/relationships/slideLayout" Target="/ppt/slideLayouts/slideLayout8.xml" Id="R9086ca329a4943ee" /><Relationship Type="http://schemas.openxmlformats.org/officeDocument/2006/relationships/slideLayout" Target="/ppt/slideLayouts/slideLayout9.xml" Id="R3cad7c0b56b341f7" /><Relationship Type="http://schemas.openxmlformats.org/officeDocument/2006/relationships/slideLayout" Target="/ppt/slideLayouts/slideLayout10.xml" Id="R97caee86d9954341" /><Relationship Type="http://schemas.openxmlformats.org/officeDocument/2006/relationships/slideLayout" Target="/ppt/slideLayouts/slideLayout11.xml" Id="R6dfd155687be43d9" /><Relationship Type="http://schemas.openxmlformats.org/officeDocument/2006/relationships/slideLayout" Target="/ppt/slideLayouts/slideLayout12.xml" Id="R56e72ccb59524b0f" /><Relationship Type="http://schemas.openxmlformats.org/officeDocument/2006/relationships/slideLayout" Target="/ppt/slideLayouts/slideLayout13.xml" Id="Rb297a0d40f32491b" /><Relationship Type="http://schemas.openxmlformats.org/officeDocument/2006/relationships/slideLayout" Target="/ppt/slideLayouts/slideLayout14.xml" Id="Rd1d018f04ac74d47" /><Relationship Type="http://schemas.openxmlformats.org/officeDocument/2006/relationships/slideLayout" Target="/ppt/slideLayouts/slideLayout15.xml" Id="R7381dd0c76674eeb" /><Relationship Type="http://schemas.openxmlformats.org/officeDocument/2006/relationships/slideLayout" Target="/ppt/slideLayouts/slideLayout16.xml" Id="R8c802b8c6cbb4b5f" /><Relationship Type="http://schemas.openxmlformats.org/officeDocument/2006/relationships/slideLayout" Target="/ppt/slideLayouts/slideLayout17.xml" Id="Rb4eb93f5e1264387" /><Relationship Type="http://schemas.openxmlformats.org/officeDocument/2006/relationships/slideLayout" Target="/ppt/slideLayouts/slideLayout18.xml" Id="R83443bec7cd9407e" /><Relationship Type="http://schemas.openxmlformats.org/officeDocument/2006/relationships/slideLayout" Target="/ppt/slideLayouts/slideLayout19.xml" Id="R0a7b5be7c4174bbd" /><Relationship Type="http://schemas.openxmlformats.org/officeDocument/2006/relationships/slideLayout" Target="/ppt/slideLayouts/slideLayout20.xml" Id="Rd6a3a79469944cde" /><Relationship Type="http://schemas.openxmlformats.org/officeDocument/2006/relationships/slideLayout" Target="/ppt/slideLayouts/slideLayout21.xml" Id="R297f257910af452a" /><Relationship Type="http://schemas.openxmlformats.org/officeDocument/2006/relationships/slideLayout" Target="/ppt/slideLayouts/slideLayout22.xml" Id="Rf13495a9f9f44b57" /><Relationship Type="http://schemas.openxmlformats.org/officeDocument/2006/relationships/slideLayout" Target="/ppt/slideLayouts/slideLayout23.xml" Id="Rdafbd987b5924dc4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1e2b1c105244cf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bd79f660204ae8"/>
    <p:sldLayoutId xmlns:r="http://schemas.openxmlformats.org/officeDocument/2006/relationships" id="2147483650" r:id="Rc8e94a85faa54bff"/>
    <p:sldLayoutId xmlns:r="http://schemas.openxmlformats.org/officeDocument/2006/relationships" id="2147483651" r:id="Rddcabb6f71684ed6"/>
    <p:sldLayoutId xmlns:r="http://schemas.openxmlformats.org/officeDocument/2006/relationships" id="2147483652" r:id="R57c1da16d36240b2"/>
    <p:sldLayoutId xmlns:r="http://schemas.openxmlformats.org/officeDocument/2006/relationships" id="2147483653" r:id="R507674ad78c74304"/>
    <p:sldLayoutId xmlns:r="http://schemas.openxmlformats.org/officeDocument/2006/relationships" id="2147483654" r:id="Rd83c8313296d46f4"/>
    <p:sldLayoutId xmlns:r="http://schemas.openxmlformats.org/officeDocument/2006/relationships" id="2147483655" r:id="R28074c48f38d4226"/>
    <p:sldLayoutId xmlns:r="http://schemas.openxmlformats.org/officeDocument/2006/relationships" id="2147483656" r:id="R9086ca329a4943ee"/>
    <p:sldLayoutId xmlns:r="http://schemas.openxmlformats.org/officeDocument/2006/relationships" id="2147483657" r:id="R3cad7c0b56b341f7"/>
    <p:sldLayoutId xmlns:r="http://schemas.openxmlformats.org/officeDocument/2006/relationships" id="2147483658" r:id="R97caee86d9954341"/>
    <p:sldLayoutId xmlns:r="http://schemas.openxmlformats.org/officeDocument/2006/relationships" id="2147483659" r:id="R6dfd155687be43d9"/>
    <p:sldLayoutId xmlns:r="http://schemas.openxmlformats.org/officeDocument/2006/relationships" id="2147483660" r:id="R56e72ccb59524b0f"/>
    <p:sldLayoutId xmlns:r="http://schemas.openxmlformats.org/officeDocument/2006/relationships" id="2147483661" r:id="Rb297a0d40f32491b"/>
    <p:sldLayoutId xmlns:r="http://schemas.openxmlformats.org/officeDocument/2006/relationships" id="2147483662" r:id="Rd1d018f04ac74d47"/>
    <p:sldLayoutId xmlns:r="http://schemas.openxmlformats.org/officeDocument/2006/relationships" id="2147483663" r:id="R7381dd0c76674eeb"/>
    <p:sldLayoutId xmlns:r="http://schemas.openxmlformats.org/officeDocument/2006/relationships" id="2147483664" r:id="R8c802b8c6cbb4b5f"/>
    <p:sldLayoutId xmlns:r="http://schemas.openxmlformats.org/officeDocument/2006/relationships" id="2147483665" r:id="Rb4eb93f5e1264387"/>
    <p:sldLayoutId xmlns:r="http://schemas.openxmlformats.org/officeDocument/2006/relationships" id="2147483666" r:id="R83443bec7cd9407e"/>
    <p:sldLayoutId xmlns:r="http://schemas.openxmlformats.org/officeDocument/2006/relationships" id="2147483667" r:id="R0a7b5be7c4174bbd"/>
    <p:sldLayoutId xmlns:r="http://schemas.openxmlformats.org/officeDocument/2006/relationships" id="2147483668" r:id="Rd6a3a79469944cde"/>
    <p:sldLayoutId xmlns:r="http://schemas.openxmlformats.org/officeDocument/2006/relationships" id="2147483669" r:id="R297f257910af452a"/>
    <p:sldLayoutId xmlns:r="http://schemas.openxmlformats.org/officeDocument/2006/relationships" id="2147483670" r:id="Rf13495a9f9f44b57"/>
    <p:sldLayoutId xmlns:r="http://schemas.openxmlformats.org/officeDocument/2006/relationships" id="2147483671" r:id="Rdafbd987b5924dc4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8daf437fa4d5f" /><Relationship Type="http://schemas.openxmlformats.org/officeDocument/2006/relationships/notesSlide" Target="/ppt/notesSlides/notesSlide1.xml" Id="R0018dd8ee6704d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c90c3957554f13" /><Relationship Type="http://schemas.openxmlformats.org/officeDocument/2006/relationships/image" Target="/ppt/media/image3.png" Id="R346eea4df0634478" /><Relationship Type="http://schemas.openxmlformats.org/officeDocument/2006/relationships/image" Target="/ppt/media/image4.png" Id="Rb2d8d501651d4799" /><Relationship Type="http://schemas.openxmlformats.org/officeDocument/2006/relationships/notesSlide" Target="/ppt/notesSlides/notesSlide2.xml" Id="Ra452db1c712349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b317f8cfbd4298" /><Relationship Type="http://schemas.openxmlformats.org/officeDocument/2006/relationships/image" Target="/ppt/media/image.png" Id="Rdaa9e0e8c31144b4" /><Relationship Type="http://schemas.openxmlformats.org/officeDocument/2006/relationships/image" Target="/ppt/media/image5.png" Id="R5c8a917b8773404a" /><Relationship Type="http://schemas.openxmlformats.org/officeDocument/2006/relationships/image" Target="/ppt/media/image6.png" Id="R74bdde7bb9e7416c" /><Relationship Type="http://schemas.openxmlformats.org/officeDocument/2006/relationships/notesSlide" Target="/ppt/notesSlides/notesSlide3.xml" Id="R540e7904c15f49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e301fe23834c6d" /><Relationship Type="http://schemas.openxmlformats.org/officeDocument/2006/relationships/image" Target="/ppt/media/image7.png" Id="Rc7fd269da15b4687" /><Relationship Type="http://schemas.openxmlformats.org/officeDocument/2006/relationships/notesSlide" Target="/ppt/notesSlides/notesSlide4.xml" Id="R941db17473104b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176d4c56a4848c2" /><Relationship Type="http://schemas.openxmlformats.org/officeDocument/2006/relationships/image" Target="/ppt/media/image.png" Id="R5e231efd134b46bd" /><Relationship Type="http://schemas.openxmlformats.org/officeDocument/2006/relationships/notesSlide" Target="/ppt/notesSlides/notesSlide5.xml" Id="R2b9ed95389fd45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16f2f1ba56a43bd" /><Relationship Type="http://schemas.openxmlformats.org/officeDocument/2006/relationships/image" Target="/ppt/media/image2.png" Id="R29b4e1168a584f28" /><Relationship Type="http://schemas.openxmlformats.org/officeDocument/2006/relationships/notesSlide" Target="/ppt/notesSlides/notesSlide6.xml" Id="R0ccaeb5e7f1347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fd45cdbd8354896" /><Relationship Type="http://schemas.openxmlformats.org/officeDocument/2006/relationships/image" Target="/ppt/media/image.png" Id="Rb1ac073970fb472e" /><Relationship Type="http://schemas.openxmlformats.org/officeDocument/2006/relationships/image" Target="/ppt/media/image8.png" Id="R03ea876dfc8448d9" /><Relationship Type="http://schemas.openxmlformats.org/officeDocument/2006/relationships/image" Target="/ppt/media/image9.png" Id="R80a0affd26664182" /><Relationship Type="http://schemas.openxmlformats.org/officeDocument/2006/relationships/notesSlide" Target="/ppt/notesSlides/notesSlide7.xml" Id="R5c704b8cbdf74d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61acfb3c9804b07" /><Relationship Type="http://schemas.openxmlformats.org/officeDocument/2006/relationships/image" Target="/ppt/media/image.png" Id="R2d993042769e4ba1" /><Relationship Type="http://schemas.openxmlformats.org/officeDocument/2006/relationships/image" Target="/ppt/media/image10.png" Id="R1a5e94d7e6814929" /><Relationship Type="http://schemas.openxmlformats.org/officeDocument/2006/relationships/notesSlide" Target="/ppt/notesSlides/notesSlide8.xml" Id="R3153b28d50df4d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8821208dcbe4575" /><Relationship Type="http://schemas.openxmlformats.org/officeDocument/2006/relationships/image" Target="/ppt/media/image3.png" Id="R5b7495648e9243f9" /><Relationship Type="http://schemas.openxmlformats.org/officeDocument/2006/relationships/notesSlide" Target="/ppt/notesSlides/notesSlide9.xml" Id="Rcb5f8b6a52534a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r>
              <a:t>СИСТЕМА ОБНАРУЖЕНИЯ ПРЕПЯТСТВИЙ</a:t>
            </a:r>
            <a:endParaRPr sz="4800"/>
          </a:p>
          <a:p xmlns:a="http://schemas.openxmlformats.org/drawingml/2006/main">
            <a:pPr marL="268288" indent="0">
              <a:buNone/>
            </a:pPr>
            <a:r>
              <a:t>В ТОННЕЛЕ МЕТРО</a:t>
            </a:r>
            <a:endParaRPr sz="4800"/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05186" y="329801"/>
            <a:ext cx="5193299" cy="1082589"/>
          </a:xfrm>
        </p:spPr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  <a:defRPr sz="1575"/>
            </a:pPr>
            <a:r>
              <a:rPr sz="1575"/>
              <a:t>Команда «Алгоритмы Столицы»  |  Кейс Департамента транспорта Москвы</a:t>
            </a: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46eea4df063447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0" name="Рисунок 1"/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b2d8d501651d4799"/>
          <a:srcRect xmlns:a="http://schemas.openxmlformats.org/drawingml/2006/main" l="0" t="6538" r="0" b="65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35267"/>
            <a:ext cx="6456363" cy="2971784"/>
          </a:xfrm>
          <a:prstGeom xmlns:a="http://schemas.openxmlformats.org/drawingml/2006/main" prst="rect">
            <a:avLst/>
          </a:prstGeom>
        </p:spPr>
      </p:pic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163"/>
            </a:pPr>
            <a:r>
              <a:rPr sz="1163">
                <a:solidFill>
                  <a:schemeClr val="tx1"/>
                </a:solidFill>
              </a:rPr>
              <a:t>Работает без внешней карты, TF и odometry. Angular/ring sampling нормализует плотность 128-канального лидара. Модель обучена без intensity, чтобы снизить зависимость от материалов.</a:t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75"/>
            </a:pPr>
            <a:r>
              <a:rPr sz="1275" b="1">
                <a:solidFill>
                  <a:schemeClr val="tx1"/>
                </a:solidFill>
              </a:rPr>
              <a:t>Капитан: Людмила Швецова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75"/>
            </a:pPr>
            <a:r>
              <a:rPr sz="1275" b="1">
                <a:solidFill>
                  <a:schemeClr val="tx1"/>
                </a:solidFill>
              </a:rPr>
              <a:t>Количество участников: 2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75"/>
            </a:pPr>
            <a:r>
              <a:rPr sz="1275" b="1">
                <a:solidFill>
                  <a:schemeClr val="tx1"/>
                </a:solidFill>
              </a:rPr>
              <a:t>Города: Пермь и Москва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 sz="1275"/>
            </a:pPr>
            <a:r>
              <a:rPr sz="1275" i="1">
                <a:solidFill>
                  <a:schemeClr val="tx1"/>
                </a:solidFill>
              </a:rPr>
              <a:t>Команда объединяет продуктовую экспертизу и ML-разработку.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9F5D8228-1693-4E41-BA7B-BF503263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E5C54644-2DAC-4A17-9696-906DD279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C1B6710E-AD77-45C8-A063-35B58551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163"/>
            </a:pPr>
            <a:r>
              <a:rPr sz="1163">
                <a:solidFill>
                  <a:schemeClr val="tx1"/>
                </a:solidFill>
              </a:rPr>
              <a:t>Причинный ROS 2-детектор для Hesai Pandar128. Локально оценивает свободный габарит, подавляет постоянную инфраструктуру и подтверждает кандидатов моделью range image.</a:t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8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aa9e0e8c31144b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394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8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975"/>
            </a:pPr>
            <a:r>
              <a:rPr sz="975">
                <a:solidFill>
                  <a:schemeClr val="tx1"/>
                </a:solidFill>
              </a:rPr>
              <a:t>ML-разработка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975"/>
            </a:pPr>
            <a:r>
              <a:rPr sz="975">
                <a:solidFill>
                  <a:schemeClr val="tx1"/>
                </a:solidFill>
              </a:rPr>
              <a:t>Инженерия и интеграция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975"/>
            </a:pPr>
            <a:r>
              <a:rPr sz="975">
                <a:solidFill>
                  <a:schemeClr val="tx1"/>
                </a:solidFill>
              </a:rPr>
              <a:t>Студент МАИ, 1 курс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975"/>
            </a:pPr>
            <a:r>
              <a:rPr sz="975">
                <a:solidFill>
                  <a:schemeClr val="tx1"/>
                </a:solidFill>
              </a:rPr>
              <a:t>Москва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7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238"/>
            </a:pPr>
            <a:r>
              <a:rPr sz="1238" b="1">
                <a:solidFill>
                  <a:schemeClr val="accent5"/>
                </a:solidFill>
              </a:rPr>
              <a:t>Арсений Швецов</a:t>
            </a: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9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/>
            </a:pPr>
            <a:r>
              <a:rPr sz="1463"/>
              <a:t>КОМАНДА «АЛГОРИТМЫ СТОЛИЦЫ»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18360" y="4250028"/>
            <a:ext cx="1894354" cy="162461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938"/>
            </a:pPr>
            <a:r>
              <a:rPr sz="938">
                <a:solidFill>
                  <a:schemeClr val="tx1"/>
                </a:solidFill>
              </a:rPr>
              <a:t>Капитан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938"/>
            </a:pPr>
            <a:r>
              <a:rPr sz="938">
                <a:solidFill>
                  <a:schemeClr val="tx1"/>
                </a:solidFill>
              </a:rPr>
              <a:t>Product и project management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938"/>
            </a:pPr>
            <a:r>
              <a:rPr sz="938">
                <a:solidFill>
                  <a:schemeClr val="tx1"/>
                </a:solidFill>
              </a:rPr>
              <a:t>Business owner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938"/>
            </a:pPr>
            <a:r>
              <a:rPr sz="938">
                <a:solidFill>
                  <a:schemeClr val="tx1"/>
                </a:solidFill>
              </a:rPr>
              <a:t>Независимый цифровой энтузиаст, автор pet-проектов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938"/>
            </a:pPr>
            <a:r>
              <a:rPr sz="938">
                <a:solidFill>
                  <a:schemeClr val="tx1"/>
                </a:solidFill>
              </a:rPr>
              <a:t>Пермь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9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238"/>
            </a:pPr>
            <a:r>
              <a:rPr sz="1238" b="1">
                <a:solidFill>
                  <a:schemeClr val="accent5"/>
                </a:solidFill>
              </a:rPr>
              <a:t>Людмила Швецова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a917b8773404a"/>
          <a:srcRect xmlns:a="http://schemas.openxmlformats.org/drawingml/2006/main" l="0" t="4696" r="0" b="46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" y="1809750"/>
            <a:ext cx="1724025" cy="1562100"/>
          </a:xfrm>
          <a:prstGeom xmlns:a="http://schemas.openxmlformats.org/drawingml/2006/main" prst="roundRect">
            <a:avLst>
              <a:gd name="adj" fmla="val 6098"/>
            </a:avLst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dde7bb9e7416c"/>
          <a:srcRect xmlns:a="http://schemas.openxmlformats.org/drawingml/2006/main" l="0" t="4696" r="0" b="46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86075" y="1809750"/>
            <a:ext cx="1724025" cy="1562100"/>
          </a:xfrm>
          <a:prstGeom xmlns:a="http://schemas.openxmlformats.org/drawingml/2006/main" prst="roundRect">
            <a:avLst>
              <a:gd name="adj" fmla="val 6098"/>
            </a:avLst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7fd269da15b468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И ЗАДАЧА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7" y="1602273"/>
            <a:ext cx="4425822" cy="9342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163"/>
            </a:pPr>
            <a:r>
              <a:rPr sz="1163">
                <a:solidFill>
                  <a:schemeClr val="tx1"/>
                </a:solidFill>
              </a:rPr>
              <a:t>Два участника объединили продуктовую работу и ML-инженерию, чтобы собрать решение полного цикла: от исследования данных до ROS 2-контейнера и демонстрации на реальных проездах.</a:t>
            </a:r>
          </a:p>
        </p:txBody>
      </p:sp>
      <p:sp>
        <p:nvSpPr>
          <p:cNvPr id="3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5"/>
            <a:ext cx="7318749" cy="10553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163"/>
            </a:pPr>
            <a:r>
              <a:rPr sz="1163">
                <a:solidFill>
                  <a:schemeClr val="tx1"/>
                </a:solidFill>
              </a:rPr>
              <a:t>В bag отсутствуют ground truth, TF и odometry. На поворотах стены и оборудование давали уверенные ложные срабатывания. Мы объединили локальный профиль пути, причинный фон и лёгкую нейросетевую проверку, затем прогнали все 2 488 кадров.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4945565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238"/>
            </a:pPr>
            <a:r>
              <a:rPr sz="1238">
                <a:solidFill>
                  <a:schemeClr val="tx1"/>
                </a:solidFill>
              </a:rPr>
              <a:t>Нас заинтересовала критичная для безопасности задача, где ошибка алгоритма напрямую влияет на движение поезда, а реальные данные почти не имеют разметки.</a:t>
            </a:r>
          </a:p>
        </p:txBody>
      </p:sp>
      <p:sp>
        <p:nvSpPr>
          <p:cNvPr id="4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sp>
        <p:nvSpPr>
          <p:cNvPr id="5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1DC74B4D-B76F-4AB6-9C49-E8DC09B2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1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A0EAB7AF-E154-4C58-B684-E54EFF0B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57553778-73BE-41DE-9868-57948D54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e231efd134b46b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11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/>
            </a:pPr>
            <a:r>
              <a:rPr sz="1238">
                <a:solidFill>
                  <a:schemeClr val="tx1"/>
                </a:solidFill>
              </a:rPr>
              <a:t>ROS 2-узел принимает PointCloud2 от Hesai Pandar128. Angular/ring sampling нормализует плотность. Локальный профиль пути и причинный фон формируют предложения. Range U-Net без intensity подтверждает объект в двух последовательных кадрах. Внешняя calibration map, TF и odometry не нужны.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/>
            </a:pPr>
            <a:r>
              <a:rPr sz="1238">
                <a:solidFill>
                  <a:schemeClr val="tx1"/>
                </a:solidFill>
              </a:rPr>
              <a:t>Контур подавляет тревоги на платформах, стрелках, гермоворотах и переходах профиля. На 2 287 инфраструктурных кадрах полный прогон дал 0 alarm-кадров. Событие Person обнаружено. Docker-образ подготовлен для Ubuntu 22.04, ROS 2 Humble и NVIDIA GPU.</a:t>
            </a: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О РЕШЕНИИ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Маркетинговая суть решения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9b4e1168a584f2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56363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 xmlns:a="http://schemas.openxmlformats.org/drawingml/2006/main"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21133" y="1263123"/>
            <a:ext cx="5574868" cy="493765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0977"/>
                </a:solidFill>
              </a:defRPr>
            </a:pPr>
            <a:r>
              <a:rPr sz="1425">
                <a:solidFill>
                  <a:srgbClr val="520977"/>
                </a:solidFill>
              </a:rPr>
              <a:t>01  PointCloud2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425">
                <a:solidFill>
                  <a:srgbClr val="520977"/>
                </a:solidFill>
              </a:defRPr>
            </a:pPr>
            <a:r>
              <a:rPr sz="1425">
                <a:solidFill>
                  <a:srgbClr val="520977"/>
                </a:solidFill>
              </a:rPr>
              <a:t>Hesai Pandar128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425">
                <a:solidFill>
                  <a:srgbClr val="520977"/>
                </a:solidFill>
              </a:defRPr>
            </a:pPr>
            <a:r>
              <a:rPr sz="1425">
                <a:solidFill>
                  <a:srgbClr val="520977"/>
                </a:solidFill>
              </a:rPr>
              <a:t>02  Нормализация плотности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425">
                <a:solidFill>
                  <a:srgbClr val="520977"/>
                </a:solidFill>
              </a:defRPr>
            </a:pPr>
            <a:r>
              <a:rPr sz="1425">
                <a:solidFill>
                  <a:srgbClr val="520977"/>
                </a:solidFill>
              </a:rPr>
              <a:t>Angular/ring sampling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425">
                <a:solidFill>
                  <a:srgbClr val="520977"/>
                </a:solidFill>
              </a:defRPr>
            </a:pPr>
            <a:r>
              <a:rPr sz="1425">
                <a:solidFill>
                  <a:srgbClr val="520977"/>
                </a:solidFill>
              </a:rPr>
              <a:t>03  Свободный габарит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425">
                <a:solidFill>
                  <a:srgbClr val="520977"/>
                </a:solidFill>
              </a:defRPr>
            </a:pPr>
            <a:r>
              <a:rPr sz="1425">
                <a:solidFill>
                  <a:srgbClr val="520977"/>
                </a:solidFill>
              </a:rPr>
              <a:t>Локальный профиль пути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425">
                <a:solidFill>
                  <a:srgbClr val="520977"/>
                </a:solidFill>
              </a:defRPr>
            </a:pPr>
            <a:r>
              <a:rPr sz="1425">
                <a:solidFill>
                  <a:srgbClr val="520977"/>
                </a:solidFill>
              </a:rPr>
              <a:t>04  Подавление фона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425">
                <a:solidFill>
                  <a:srgbClr val="520977"/>
                </a:solidFill>
              </a:defRPr>
            </a:pPr>
            <a:r>
              <a:rPr sz="1425">
                <a:solidFill>
                  <a:srgbClr val="520977"/>
                </a:solidFill>
              </a:rPr>
              <a:t>Только прошлые кадры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425">
                <a:solidFill>
                  <a:srgbClr val="520977"/>
                </a:solidFill>
              </a:defRPr>
            </a:pPr>
            <a:r>
              <a:rPr sz="1425">
                <a:solidFill>
                  <a:srgbClr val="520977"/>
                </a:solidFill>
              </a:rPr>
              <a:t>05  Range U-Net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425">
                <a:solidFill>
                  <a:srgbClr val="520977"/>
                </a:solidFill>
              </a:defRPr>
            </a:pPr>
            <a:r>
              <a:rPr sz="1425">
                <a:solidFill>
                  <a:srgbClr val="520977"/>
                </a:solidFill>
              </a:rPr>
              <a:t>Подтверждение кандидата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425">
                <a:solidFill>
                  <a:srgbClr val="520977"/>
                </a:solidFill>
              </a:defRPr>
            </a:pPr>
            <a:r>
              <a:rPr sz="1425">
                <a:solidFill>
                  <a:srgbClr val="520977"/>
                </a:solidFill>
              </a:rPr>
              <a:t>06  Alarm event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425">
                <a:solidFill>
                  <a:srgbClr val="520977"/>
                </a:solidFill>
              </a:defRPr>
            </a:pPr>
            <a:r>
              <a:rPr sz="1425">
                <a:solidFill>
                  <a:srgbClr val="520977"/>
                </a:solidFill>
              </a:rPr>
              <a:t>Подтверждение в 2 кадрах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12</a:t>
            </a:fld>
            <a:endParaRPr/>
          </a:p>
        </p:txBody>
      </p:sp>
      <p:sp>
        <p:nvSpPr>
          <p:cNvPr id="28" name="Заголовок 27">
            <a:extLst xmlns:a="http://schemas.openxmlformats.org/drawingml/2006/main"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7444" y="395288"/>
            <a:ext cx="5574868" cy="42572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520977"/>
                </a:solidFill>
              </a:defRPr>
            </a:pPr>
            <a:r>
              <a:rPr>
                <a:solidFill>
                  <a:srgbClr val="520977"/>
                </a:solidFill>
              </a:rPr>
              <a:t>АРХИТЕКТУРА ПРИЧИННОГО ДЕТЕКТОРА</a:t>
            </a:r>
            <a:endParaRPr sz="20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1ac073970fb472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ПОЛНЫЙ ПРОГОН РЕАЛЬНЫХ ДАННЫХ</a:t>
            </a:r>
            <a:endParaRPr sz="3600">
              <a:solidFill>
                <a:schemeClr val="bg1"/>
              </a:solidFill>
            </a:endParaRP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a876dfc8448d9"/>
          <a:stretch xmlns:a="http://schemas.openxmlformats.org/drawingml/2006/main"/>
        </p:blipFill>
        <p:spPr>
          <a:xfrm xmlns:a="http://schemas.openxmlformats.org/drawingml/2006/main">
            <a:off x="647700" y="1670231"/>
            <a:ext cx="5095875" cy="2698387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0affd26664182"/>
          <a:stretch xmlns:a="http://schemas.openxmlformats.org/drawingml/2006/main"/>
        </p:blipFill>
        <p:spPr>
          <a:xfrm xmlns:a="http://schemas.openxmlformats.org/drawingml/2006/main">
            <a:off x="6096000" y="1670231"/>
            <a:ext cx="5095875" cy="2698387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B791EE-A7E5-42E8-A1C2-98588D0E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2 488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47642-D706-4EB7-B3FC-6814EE64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125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кадров обработано потоково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49A8E6-F600-40FD-9801-7C3DFD5A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625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0 / 2 287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43463D-9EC9-49A4-86AB-ED85DED3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3816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125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alarm-кадров на инфраструктуре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2FD119-40D5-408E-BC1B-0EFFE2C8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625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43 / 45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28ECBB-9C15-4759-A7B9-77F775FD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816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125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совпадений с ручным Person-треком, proxy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d993042769e4ba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266006"/>
            <a:ext cx="5354638" cy="6331643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2700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 xmlns:a="http://schemas.openxmlformats.org/drawingml/2006/main"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14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2040" y="496888"/>
            <a:ext cx="4781233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520977"/>
                </a:solidFill>
              </a:defRPr>
            </a:pPr>
            <a:r>
              <a:rPr>
                <a:solidFill>
                  <a:srgbClr val="520977"/>
                </a:solidFill>
              </a:rPr>
              <a:t>ДЕМОНСТРАЦИЯ</a:t>
            </a:r>
            <a:endParaRPr sz="2000">
              <a:solidFill>
                <a:schemeClr val="accent5"/>
              </a:solidFill>
            </a:endParaRPr>
          </a:p>
        </p:txBody>
      </p:sp>
      <p:pic>
        <p:nvPicPr>
          <p:cNvPr id="13" name="Рисунок 3"/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1a5e94d7e6814929"/>
          <a:stretch xmlns:a="http://schemas.openxmlformats.org/drawingml/2006/main"/>
        </p:blipFill>
        <p:spPr>
          <a:xfrm xmlns:a="http://schemas.openxmlformats.org/drawingml/2006/main">
            <a:off x="6096001" y="1815011"/>
            <a:ext cx="6096000" cy="3227977"/>
          </a:xfrm>
          <a:prstGeom xmlns:a="http://schemas.openxmlformats.org/drawingml/2006/main" prst="rect">
            <a:avLst/>
          </a:prstGeom>
        </p:spPr>
      </p:pic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95433" y="1143695"/>
            <a:ext cx="4807840" cy="47173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Красная рамка показывает итоговую причинную тревогу.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Зелёная рамка показывает ручной Person-трек и используется только для оценки после inference.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На инфраструктурных сценах геометрические предложения остаются видимыми, но learned second stage не формирует тревогу.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Видео: 39 секунд, четыре характерные сцены.</a:t>
            </a:r>
            <a:endParaRPr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b7495648e9243f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Заголовок 5">
            <a:extLst xmlns:a="http://schemas.openxmlformats.org/drawingml/2006/main"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90" y="370426"/>
            <a:ext cx="5562510" cy="4423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520977"/>
                </a:solidFill>
              </a:defRPr>
            </a:pPr>
            <a:r>
              <a:rPr>
                <a:solidFill>
                  <a:srgbClr val="520977"/>
                </a:solidFill>
              </a:rPr>
              <a:t>ГОТОВНОСТЬ К ТЕХНИЧЕСКОЙ ЭКСПЕРТИЗЕ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521133" y="1695025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Docker-образ и воспроизводимая команда запуска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21133" y="2552035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Ubuntu 22.04 и ROS 2 Humble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521133" y="3409044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Вход PointCloud2, стабильные ROS 2 output topics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521133" y="4266053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Проверка real replay на Tesla T4: 9,9–10,4 Гц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521133" y="5123063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Целевой стенд: RTX 4070 Ti SUPER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41475" y="6356350"/>
            <a:ext cx="558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15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Прямая соединительная линия 1">
            <a:extLst xmlns:a="http://schemas.openxmlformats.org/drawingml/2006/main">
              <a:ext uri="{FF2B5EF4-FFF2-40B4-BE49-F238E27FC236}">
                <a16:creationId xmlns:a16="http://schemas.microsoft.com/office/drawing/2014/main" id="{F6D58D75-26DD-4876-B11E-F770E4A6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1604660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2181915D-01EB-438B-B3FD-142A2663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2465535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Прямая соединительная линия 12">
            <a:extLst xmlns:a="http://schemas.openxmlformats.org/drawingml/2006/main">
              <a:ext uri="{FF2B5EF4-FFF2-40B4-BE49-F238E27FC236}">
                <a16:creationId xmlns:a16="http://schemas.microsoft.com/office/drawing/2014/main" id="{38A71678-F536-444A-A00D-CC7F8B3E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3342865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Прямая соединительная линия 13">
            <a:extLst xmlns:a="http://schemas.openxmlformats.org/drawingml/2006/main">
              <a:ext uri="{FF2B5EF4-FFF2-40B4-BE49-F238E27FC236}">
                <a16:creationId xmlns:a16="http://schemas.microsoft.com/office/drawing/2014/main" id="{42E58350-9BF2-4AEE-8FE2-BC413F82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4183125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Прямая соединительная линия 14">
            <a:extLst xmlns:a="http://schemas.openxmlformats.org/drawingml/2006/main">
              <a:ext uri="{FF2B5EF4-FFF2-40B4-BE49-F238E27FC236}">
                <a16:creationId xmlns:a16="http://schemas.microsoft.com/office/drawing/2014/main" id="{8007488D-0D79-4BC9-A0DC-BF9B24B4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5048098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679793639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2026-09-27T07:07:38.4060000Z</dcterms:created>
  <dcterms:modified xsi:type="dcterms:W3CDTF">2026-09-27T07:07:38.4060000Z</dcterms:modified>
</coreProperties>
</file>